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82" roundtripDataSignature="AMtx7mjWTAxwFUlhXnemxU4UFIL3P7ia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customschemas.google.com/relationships/presentationmetadata" Target="metadata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6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66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6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6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77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7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7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7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7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7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7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7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7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7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7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7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7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7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7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7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7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7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7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7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7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7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7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7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7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7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7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7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7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7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7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7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7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7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7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7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7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7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7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7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7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7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7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7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7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7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7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7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7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7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7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77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7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A43E27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77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8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8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7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8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8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30" name="Google Shape;130;p8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8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8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8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8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8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8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8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8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8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8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8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8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8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8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8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6" name="Google Shape;146;p8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7" name="Google Shape;147;p8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8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8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8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8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" name="Google Shape;152;p8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3" name="Google Shape;153;p8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8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8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8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8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8" name="Google Shape;158;p8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8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8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8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8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3" name="Google Shape;163;p8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64" name="Google Shape;164;p8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8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8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8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8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9" name="Google Shape;169;p8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70" name="Google Shape;170;p8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8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8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8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8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5" name="Google Shape;175;p8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8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8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8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8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0" name="Google Shape;180;p8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8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2" name="Google Shape;182;p80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82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82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8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82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8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3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3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83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83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83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8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83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8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4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8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84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showMasterSp="0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8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06" name="Google Shape;206;p8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8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8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8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8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8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8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8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8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8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8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8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8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8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8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8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22" name="Google Shape;222;p8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23" name="Google Shape;223;p8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8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8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8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8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8" name="Google Shape;228;p8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9" name="Google Shape;229;p8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8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8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8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8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4" name="Google Shape;234;p8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8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8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8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8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9" name="Google Shape;239;p8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0" name="Google Shape;240;p8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8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8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8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8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5" name="Google Shape;245;p8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6" name="Google Shape;246;p8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8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8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8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8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1" name="Google Shape;251;p8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8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8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8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8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56" name="Google Shape;256;p85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85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8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6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8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8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8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8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8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8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8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8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8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8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8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8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8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8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8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8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8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8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8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8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8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8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8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8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8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8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8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8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8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8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8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8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8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8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8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8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8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8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8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8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8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8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8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8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8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8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8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8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8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8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8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6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86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86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86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86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86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8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87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8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8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8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8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8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8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8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8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8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8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8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8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8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8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8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8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8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8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8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8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8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8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8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8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8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8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8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8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8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8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8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8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8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8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8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8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8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8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87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8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8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8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8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8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8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8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8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8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8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8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87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87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87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要新增影像的空白預留位置。按一下預留位置，然後選取您要新增的影像。" id="374" name="Google Shape;374;p87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87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8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88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8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88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8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9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89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8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89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8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AF4329"/>
            </a:gs>
            <a:gs pos="100000">
              <a:srgbClr val="AF4329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81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448" name="Google Shape;448;p8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49" name="Google Shape;449;p8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0" name="Google Shape;450;p8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1" name="Google Shape;451;p8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8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3" name="Google Shape;453;p8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4" name="Google Shape;454;p8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5" name="Google Shape;455;p8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6" name="Google Shape;456;p8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7" name="Google Shape;457;p8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" name="Google Shape;458;p8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9" name="Google Shape;459;p8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0" name="Google Shape;460;p8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1" name="Google Shape;461;p8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2" name="Google Shape;462;p8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63" name="Google Shape;463;p8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A43E27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64" name="Google Shape;464;p8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65" name="Google Shape;465;p8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6" name="Google Shape;466;p8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7" name="Google Shape;467;p8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8" name="Google Shape;468;p8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9" name="Google Shape;469;p8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70" name="Google Shape;470;p8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71" name="Google Shape;471;p8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2" name="Google Shape;472;p8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3" name="Google Shape;473;p8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4" name="Google Shape;474;p8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75" name="Google Shape;475;p8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76" name="Google Shape;476;p8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8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8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8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8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81" name="Google Shape;481;p8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82" name="Google Shape;482;p8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8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8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8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8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87" name="Google Shape;487;p8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88" name="Google Shape;488;p8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89" name="Google Shape;489;p8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0" name="Google Shape;490;p8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1" name="Google Shape;491;p8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92" name="Google Shape;492;p8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A43E27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93" name="Google Shape;493;p8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4" name="Google Shape;494;p8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5" name="Google Shape;495;p8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6" name="Google Shape;496;p8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7" name="Google Shape;497;p8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A43E27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98" name="Google Shape;498;p81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81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500" name="Google Shape;500;p81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2999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6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7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7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7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7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7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7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7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7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7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7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7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7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7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7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7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7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7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7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7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7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7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7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7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7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7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7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7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7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7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7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7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7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7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7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7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7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7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7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7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7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7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7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76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6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76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76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6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76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4142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2D2D2D"/>
            </a:gs>
            <a:gs pos="52999">
              <a:schemeClr val="dk1"/>
            </a:gs>
            <a:gs pos="100000">
              <a:srgbClr val="2A2B2A">
                <a:alpha val="64705"/>
              </a:srgbClr>
            </a:gs>
          </a:gsLst>
          <a:lin ang="5400000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79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390" name="Google Shape;390;p79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1" name="Google Shape;391;p79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" name="Google Shape;392;p79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3" name="Google Shape;393;p79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4" name="Google Shape;394;p79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5" name="Google Shape;395;p79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6" name="Google Shape;396;p79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7" name="Google Shape;397;p79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8" name="Google Shape;398;p79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9" name="Google Shape;399;p79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0" name="Google Shape;400;p79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1" name="Google Shape;401;p79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2" name="Google Shape;402;p79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3" name="Google Shape;403;p79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4" name="Google Shape;404;p79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05" name="Google Shape;405;p79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2726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406" name="Google Shape;406;p79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7" name="Google Shape;407;p7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7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7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7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79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12" name="Google Shape;412;p7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13" name="Google Shape;413;p7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4" name="Google Shape;414;p7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5" name="Google Shape;415;p7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6" name="Google Shape;416;p7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17" name="Google Shape;417;p7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18" name="Google Shape;418;p7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7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7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7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7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23" name="Google Shape;423;p79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24" name="Google Shape;424;p79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79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79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79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79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429" name="Google Shape;429;p79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30" name="Google Shape;430;p79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1" name="Google Shape;431;p79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2" name="Google Shape;432;p79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3" name="Google Shape;433;p79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4" name="Google Shape;434;p79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2726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35" name="Google Shape;435;p79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79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79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79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79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2726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40" name="Google Shape;440;p79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A43E2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1" name="Google Shape;441;p79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A43E27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43E27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A43E27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42" name="Google Shape;442;p79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A43E2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3" name="Google Shape;443;p7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4" name="Google Shape;444;p79"/>
          <p:cNvSpPr txBox="1"/>
          <p:nvPr>
            <p:ph idx="10" type="dt"/>
          </p:nvPr>
        </p:nvSpPr>
        <p:spPr>
          <a:xfrm>
            <a:off x="8992717" y="6289679"/>
            <a:ext cx="1267271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5" name="Google Shape;445;p7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4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9" Type="http://schemas.openxmlformats.org/officeDocument/2006/relationships/image" Target="../media/image46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7.png"/><Relationship Id="rId7" Type="http://schemas.openxmlformats.org/officeDocument/2006/relationships/oleObject" Target="../embeddings/oleObject3.bin"/><Relationship Id="rId8" Type="http://schemas.openxmlformats.org/officeDocument/2006/relationships/oleObject" Target="../embeddings/oleObject3.bin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1.png"/><Relationship Id="rId4" Type="http://schemas.openxmlformats.org/officeDocument/2006/relationships/image" Target="../media/image5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9.png"/><Relationship Id="rId4" Type="http://schemas.openxmlformats.org/officeDocument/2006/relationships/image" Target="../media/image45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5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4.bin"/><Relationship Id="rId5" Type="http://schemas.openxmlformats.org/officeDocument/2006/relationships/oleObject" Target="../embeddings/oleObject4.bin"/><Relationship Id="rId6" Type="http://schemas.openxmlformats.org/officeDocument/2006/relationships/image" Target="../media/image6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5.bin"/><Relationship Id="rId5" Type="http://schemas.openxmlformats.org/officeDocument/2006/relationships/oleObject" Target="../embeddings/oleObject5.bin"/><Relationship Id="rId6" Type="http://schemas.openxmlformats.org/officeDocument/2006/relationships/image" Target="../media/image6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"/>
          <p:cNvSpPr txBox="1"/>
          <p:nvPr>
            <p:ph type="ctrTitle"/>
          </p:nvPr>
        </p:nvSpPr>
        <p:spPr>
          <a:xfrm>
            <a:off x="1293845" y="655312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6000"/>
              <a:t>軟體版本控制基礎教學</a:t>
            </a:r>
            <a:endParaRPr/>
          </a:p>
        </p:txBody>
      </p:sp>
      <p:sp>
        <p:nvSpPr>
          <p:cNvPr id="507" name="Google Shape;507;p1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08" name="Google Shape;508;p1"/>
          <p:cNvSpPr txBox="1"/>
          <p:nvPr/>
        </p:nvSpPr>
        <p:spPr>
          <a:xfrm>
            <a:off x="6960476" y="5292626"/>
            <a:ext cx="404527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講師：吳建男 Lancelot 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eazelancelot@gmail.com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514" name="Google Shape;514;p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版本控制與 Git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GitHub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版本控制與 Git</a:t>
            </a:r>
            <a:endParaRPr/>
          </a:p>
        </p:txBody>
      </p:sp>
      <p:sp>
        <p:nvSpPr>
          <p:cNvPr id="520" name="Google Shape;520;p3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版本控制</a:t>
            </a:r>
            <a:endParaRPr/>
          </a:p>
        </p:txBody>
      </p:sp>
      <p:sp>
        <p:nvSpPr>
          <p:cNvPr id="526" name="Google Shape;526;p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版本控制系統(Version Control System，VCS)是一套能記錄所有修改版本並能讓使用者隨時取回任一(特定)版本的系統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VCS 可以解決以下問題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版本控制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版本的建立時間(歷史檔案)以及命名混亂等問題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共享檔案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檔案被覆蓋的問題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版本以及內容不一致問題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27" name="Google Shape;5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494" y="3640182"/>
            <a:ext cx="4355483" cy="2461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版本控制</a:t>
            </a:r>
            <a:endParaRPr/>
          </a:p>
        </p:txBody>
      </p:sp>
      <p:sp>
        <p:nvSpPr>
          <p:cNvPr id="533" name="Google Shape;533;p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版本控制系統的基本名詞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Repository(數據庫或版本儲存庫)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用來保存所有歷史程式碼以及相關的東西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包括原始碼、範例設計檔、文件等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Local(本地端)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通常是個人開發的電腦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Remote(遠端)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通常是一個共用的伺服器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用來暫存要上傳到 Repository 的程式碼與文件</a:t>
            </a:r>
            <a:endParaRPr/>
          </a:p>
        </p:txBody>
      </p:sp>
      <p:sp>
        <p:nvSpPr>
          <p:cNvPr id="534" name="Google Shape;534;p5"/>
          <p:cNvSpPr/>
          <p:nvPr/>
        </p:nvSpPr>
        <p:spPr>
          <a:xfrm>
            <a:off x="7688239" y="1073624"/>
            <a:ext cx="1642280" cy="937146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81818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"/>
          <p:cNvSpPr/>
          <p:nvPr/>
        </p:nvSpPr>
        <p:spPr>
          <a:xfrm>
            <a:off x="7736006" y="2960427"/>
            <a:ext cx="1642280" cy="937146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2700">
            <a:solidFill>
              <a:srgbClr val="7E852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5"/>
          <p:cNvSpPr/>
          <p:nvPr/>
        </p:nvSpPr>
        <p:spPr>
          <a:xfrm>
            <a:off x="7779224" y="4917745"/>
            <a:ext cx="1599062" cy="83251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98412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7" name="Google Shape;537;p5"/>
          <p:cNvCxnSpPr>
            <a:endCxn id="535" idx="2"/>
          </p:cNvCxnSpPr>
          <p:nvPr/>
        </p:nvCxnSpPr>
        <p:spPr>
          <a:xfrm rot="10800000">
            <a:off x="8557146" y="3897573"/>
            <a:ext cx="9000" cy="10203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38" name="Google Shape;538;p5"/>
          <p:cNvCxnSpPr>
            <a:endCxn id="534" idx="2"/>
          </p:cNvCxnSpPr>
          <p:nvPr/>
        </p:nvCxnSpPr>
        <p:spPr>
          <a:xfrm rot="10800000">
            <a:off x="8509379" y="2010770"/>
            <a:ext cx="0" cy="9498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9" name="Google Shape;539;p5"/>
          <p:cNvSpPr txBox="1"/>
          <p:nvPr/>
        </p:nvSpPr>
        <p:spPr>
          <a:xfrm>
            <a:off x="8623110" y="4222992"/>
            <a:ext cx="11668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"/>
          <p:cNvSpPr txBox="1"/>
          <p:nvPr/>
        </p:nvSpPr>
        <p:spPr>
          <a:xfrm>
            <a:off x="8557146" y="2283303"/>
            <a:ext cx="11668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GIT</a:t>
            </a:r>
            <a:endParaRPr/>
          </a:p>
        </p:txBody>
      </p:sp>
      <p:sp>
        <p:nvSpPr>
          <p:cNvPr id="546" name="Google Shape;546;p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是套免費、開源的分散式版本控制軟體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使用 GIT 可以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把檔案的狀態作為更新歷史紀錄保存起來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把編輯過的檔案內容復原到先前的任一特定版本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可以顯示編輯過的內容差異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當有編輯過的舊檔案上傳到檔案儲存庫並會覆蓋他人的最新版本時，系統會發出警告，避免無意中覆蓋他人的編輯內容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47" name="Google Shape;5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7418" y="3796669"/>
            <a:ext cx="48291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GitHub</a:t>
            </a:r>
            <a:endParaRPr/>
          </a:p>
        </p:txBody>
      </p:sp>
      <p:sp>
        <p:nvSpPr>
          <p:cNvPr id="553" name="Google Shape;553;p7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</a:t>
            </a:r>
            <a:endParaRPr/>
          </a:p>
        </p:txBody>
      </p:sp>
      <p:sp>
        <p:nvSpPr>
          <p:cNvPr id="559" name="Google Shape;559;p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GitHub 是一個以 Git 為基礎的服務平台，為開發者提供雲端版本控制服務的平台，是目前最受歡迎的程式碼管理和分享網站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開源專案可以享有免費服務，若不想他人看到自己的專案內容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提供追蹤其他使用者或組織的專案動態、對程式碼的更動和 Bug 提出評論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提供圖表功能顯示軟體開發者的活躍程度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除了 GitHub，類似的雲端版本控制服務有 Bitbucket、GitLab 等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註冊</a:t>
            </a:r>
            <a:endParaRPr/>
          </a:p>
        </p:txBody>
      </p:sp>
      <p:sp>
        <p:nvSpPr>
          <p:cNvPr id="565" name="Google Shape;565;p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註冊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https://github.com/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點擊右上方的 Sign Up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依序輸入 email、登入的密碼、使用者名稱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會檢查 email 格式、密碼強度、使用者名稱是否有重複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是否要收到產品更新或其他通知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此點看個人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非機器人驗證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圖片驗證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輸入激活碼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到註冊的 email 收取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66" name="Google Shape;5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4581" y="4737701"/>
            <a:ext cx="3597049" cy="141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0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建立儲存庫(Repo)</a:t>
            </a:r>
            <a:endParaRPr/>
          </a:p>
        </p:txBody>
      </p:sp>
      <p:sp>
        <p:nvSpPr>
          <p:cNvPr id="572" name="Google Shape;572;p10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進入頁面後按下左上方的 Create repository 來建立新的專案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73" name="Google Shape;57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211" y="1906980"/>
            <a:ext cx="4282984" cy="2530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建立儲存庫(Repo)</a:t>
            </a:r>
            <a:endParaRPr/>
          </a:p>
        </p:txBody>
      </p:sp>
      <p:sp>
        <p:nvSpPr>
          <p:cNvPr id="579" name="Google Shape;579;p1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輸入相關資訊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80" name="Google Shape;5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87" y="2123419"/>
            <a:ext cx="6356714" cy="348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3301" y="2786741"/>
            <a:ext cx="5584196" cy="282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branch</a:t>
            </a:r>
            <a:endParaRPr/>
          </a:p>
        </p:txBody>
      </p:sp>
      <p:sp>
        <p:nvSpPr>
          <p:cNvPr id="587" name="Google Shape;587;p12"/>
          <p:cNvSpPr txBox="1"/>
          <p:nvPr>
            <p:ph idx="1" type="body"/>
          </p:nvPr>
        </p:nvSpPr>
        <p:spPr>
          <a:xfrm>
            <a:off x="1295399" y="1410789"/>
            <a:ext cx="10623645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zh-TW" sz="2200"/>
              <a:t>一個點到下一個點</a:t>
            </a:r>
            <a:endParaRPr sz="2200"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▪"/>
            </a:pPr>
            <a:r>
              <a:rPr lang="zh-TW" sz="1600"/>
              <a:t>相同顏色: 把專案中的新增或修改後的程式碼或文件提交到 Repository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▪"/>
            </a:pPr>
            <a:r>
              <a:rPr lang="zh-TW" sz="1600"/>
              <a:t>不同顏色的點: 開分支(branch)或合併(merge)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zh-TW" sz="1500"/>
              <a:t>開分支的兩個點的程式碼或文件完全一樣</a:t>
            </a:r>
            <a:endParaRPr sz="1500"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Char char="▪"/>
            </a:pPr>
            <a:r>
              <a:rPr lang="zh-TW" sz="1500"/>
              <a:t>合併之前，記得先把 branch 切換到要合併回去的分支(Develop)，</a:t>
            </a:r>
            <a:r>
              <a:rPr lang="zh-TW" sz="1500">
                <a:solidFill>
                  <a:srgbClr val="FF0000"/>
                </a:solidFill>
              </a:rPr>
              <a:t>把該分支最新的程式碼抓回 local 端(pull)</a:t>
            </a:r>
            <a:endParaRPr/>
          </a:p>
          <a:p>
            <a:pPr indent="-182880" lvl="3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zh-TW" sz="1300"/>
              <a:t>1. 切到主支線</a:t>
            </a:r>
            <a:endParaRPr sz="1300"/>
          </a:p>
          <a:p>
            <a:pPr indent="-182880" lvl="3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zh-TW" sz="1300"/>
              <a:t>2. </a:t>
            </a:r>
            <a:r>
              <a:rPr lang="zh-TW" sz="1300">
                <a:solidFill>
                  <a:srgbClr val="FF0000"/>
                </a:solidFill>
              </a:rPr>
              <a:t>把主支線最新的 code 拉(pull)到本機</a:t>
            </a:r>
            <a:endParaRPr sz="1300">
              <a:solidFill>
                <a:srgbClr val="FF0000"/>
              </a:solidFill>
            </a:endParaRPr>
          </a:p>
          <a:p>
            <a:pPr indent="-182880" lvl="3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zh-TW" sz="1300"/>
              <a:t>3. Merge 子支線的 code 回母支線</a:t>
            </a:r>
            <a:endParaRPr sz="1300"/>
          </a:p>
          <a:p>
            <a:pPr indent="-182880" lvl="3" marL="9144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300"/>
              <a:buChar char="▪"/>
            </a:pPr>
            <a:r>
              <a:rPr lang="zh-TW" sz="1300"/>
              <a:t>4. Merge 完後再把母支線的 code</a:t>
            </a:r>
            <a:endParaRPr/>
          </a:p>
          <a:p>
            <a:pPr indent="0" lvl="4" marL="963612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lang="zh-TW" sz="1300"/>
              <a:t>   push 到 Repository 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88" name="Google Shape;5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906" y="3310155"/>
            <a:ext cx="6600968" cy="3308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刪除專案</a:t>
            </a:r>
            <a:endParaRPr/>
          </a:p>
        </p:txBody>
      </p:sp>
      <p:sp>
        <p:nvSpPr>
          <p:cNvPr id="594" name="Google Shape;594;p1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GitHub 專案頁面 🡪 Setting 🡪 將頁面拉到最下面 🡪 Delete this repository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595" name="Google Shape;5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210" y="2323154"/>
            <a:ext cx="7693479" cy="2045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7210" y="4642350"/>
            <a:ext cx="73818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4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使用 Git 圖形化工具 - SourceTree</a:t>
            </a:r>
            <a:endParaRPr/>
          </a:p>
        </p:txBody>
      </p:sp>
      <p:sp>
        <p:nvSpPr>
          <p:cNvPr id="602" name="Google Shape;602;p14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08" name="Google Shape;608;p1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是一個以 Git 為基礎所設計的 GUI 圖形化工具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GUI: Graphical User Interface，圖形化使用者介面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換言之，SourceTree 就是 Git 的 UI 介面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將指令轉成視覺圖形，讓使用者更容易使用 Git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官網下載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https://www.sourcetreeapp.com/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可以依照作業系統來選擇安裝版本</a:t>
            </a:r>
            <a:endParaRPr/>
          </a:p>
        </p:txBody>
      </p:sp>
      <p:pic>
        <p:nvPicPr>
          <p:cNvPr id="609" name="Google Shape;6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9676" y="3542731"/>
            <a:ext cx="4426282" cy="29020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15" name="Google Shape;615;p1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註冊 Atlassian 帳號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非必要，可跳過 </a:t>
            </a:r>
            <a:endParaRPr/>
          </a:p>
        </p:txBody>
      </p:sp>
      <p:pic>
        <p:nvPicPr>
          <p:cNvPr id="616" name="Google Shape;6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1182" y="1276339"/>
            <a:ext cx="7123694" cy="4958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22" name="Google Shape;622;p1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安裝所需要的套件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安裝過程中如果有出現錯誤(例如: 403)，就再重新安裝一次，直到完成 </a:t>
            </a:r>
            <a:endParaRPr/>
          </a:p>
        </p:txBody>
      </p:sp>
      <p:pic>
        <p:nvPicPr>
          <p:cNvPr id="623" name="Google Shape;6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9450" y="2335029"/>
            <a:ext cx="7226377" cy="4441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29" name="Google Shape;629;p1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設置顯示名稱與 e-mail 帳號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630" name="Google Shape;6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5722" y="1925685"/>
            <a:ext cx="7763859" cy="4795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36" name="Google Shape;636;p1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設置 SSH Key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637" name="Google Shape;6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1294" y="1855004"/>
            <a:ext cx="5999897" cy="2521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43" name="Google Shape;643;p20"/>
          <p:cNvSpPr txBox="1"/>
          <p:nvPr>
            <p:ph idx="1" type="body"/>
          </p:nvPr>
        </p:nvSpPr>
        <p:spPr>
          <a:xfrm>
            <a:off x="1295400" y="1410789"/>
            <a:ext cx="9601200" cy="43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安裝完成畫面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644" name="Google Shape;64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593" y="1808224"/>
            <a:ext cx="8001809" cy="4856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1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透過 SourceTree 連接 Local 端並在 GitHub 建立專案</a:t>
            </a:r>
            <a:endParaRPr/>
          </a:p>
        </p:txBody>
      </p:sp>
      <p:sp>
        <p:nvSpPr>
          <p:cNvPr id="650" name="Google Shape;650;p21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2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方法一(建議)</a:t>
            </a:r>
            <a:endParaRPr/>
          </a:p>
        </p:txBody>
      </p:sp>
      <p:sp>
        <p:nvSpPr>
          <p:cNvPr id="656" name="Google Shape;656;p22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產生 Gradle 專案</a:t>
            </a:r>
            <a:endParaRPr/>
          </a:p>
        </p:txBody>
      </p:sp>
      <p:sp>
        <p:nvSpPr>
          <p:cNvPr id="662" name="Google Shape;662;p2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透過網頁 Spring initializr 產生 Gradle 專案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將專案放到 eclipse work_space 資料夾下並解壓縮</a:t>
            </a:r>
            <a:endParaRPr/>
          </a:p>
          <a:p>
            <a:pPr indent="-4572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zh-TW"/>
              <a:t>解壓縮要選擇“</a:t>
            </a:r>
            <a:r>
              <a:rPr lang="zh-TW">
                <a:solidFill>
                  <a:srgbClr val="FF0000"/>
                </a:solidFill>
              </a:rPr>
              <a:t>解壓縮至此</a:t>
            </a:r>
            <a:r>
              <a:rPr lang="zh-TW"/>
              <a:t>”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將原本的專案資料夾改名(名稱隨便)，接著再創一個原本專案同名的空資料夾</a:t>
            </a:r>
            <a:endParaRPr/>
          </a:p>
          <a:p>
            <a:pPr indent="-4572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zh-TW"/>
              <a:t>例如:產生的專案名稱為 quiz，將專案解壓縮後更名為 quiz1</a:t>
            </a:r>
            <a:endParaRPr/>
          </a:p>
          <a:p>
            <a:pPr indent="-4572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zh-TW"/>
              <a:t>接著再產生名稱為 quiz 的空資料夾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68" name="Google Shape;668;p2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Remote 🡪 Add an account </a:t>
            </a:r>
            <a:endParaRPr/>
          </a:p>
        </p:txBody>
      </p:sp>
      <p:pic>
        <p:nvPicPr>
          <p:cNvPr id="669" name="Google Shape;6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1586" y="2140726"/>
            <a:ext cx="4275190" cy="3086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75" name="Google Shape;675;p2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請依照圖片中的來選擇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按下 Refresh OAuth Token 之後，會新開網頁</a:t>
            </a:r>
            <a:endParaRPr/>
          </a:p>
          <a:p>
            <a:pPr indent="-4572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zh-TW"/>
              <a:t>將網頁滑至最下方，點擊綠色的按鈕(Authorize atlassian)</a:t>
            </a:r>
            <a:endParaRPr/>
          </a:p>
        </p:txBody>
      </p:sp>
      <p:pic>
        <p:nvPicPr>
          <p:cNvPr id="676" name="Google Shape;67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043725"/>
            <a:ext cx="4027519" cy="3391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6949" y="3550946"/>
            <a:ext cx="4724809" cy="1893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</a:t>
            </a:r>
            <a:endParaRPr/>
          </a:p>
        </p:txBody>
      </p:sp>
      <p:sp>
        <p:nvSpPr>
          <p:cNvPr id="683" name="Google Shape;683;p2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zh-TW"/>
              <a:t>返回 SourceTree，會看到認證成功</a:t>
            </a:r>
            <a:endParaRPr/>
          </a:p>
        </p:txBody>
      </p:sp>
      <p:pic>
        <p:nvPicPr>
          <p:cNvPr id="684" name="Google Shape;6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2482" y="2003535"/>
            <a:ext cx="4768986" cy="430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2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SourceTree 產生 local repository</a:t>
            </a:r>
            <a:endParaRPr/>
          </a:p>
        </p:txBody>
      </p:sp>
      <p:sp>
        <p:nvSpPr>
          <p:cNvPr id="690" name="Google Shape;690;p2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New tab 的 Local  🡪 Create</a:t>
            </a:r>
            <a:endParaRPr/>
          </a:p>
        </p:txBody>
      </p:sp>
      <p:pic>
        <p:nvPicPr>
          <p:cNvPr id="691" name="Google Shape;6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629" y="2043016"/>
            <a:ext cx="5132515" cy="220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SourceTree 產生 local repository</a:t>
            </a:r>
            <a:endParaRPr/>
          </a:p>
        </p:txBody>
      </p:sp>
      <p:sp>
        <p:nvSpPr>
          <p:cNvPr id="697" name="Google Shape;697;p2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創建 Repository</a:t>
            </a:r>
            <a:endParaRPr/>
          </a:p>
        </p:txBody>
      </p:sp>
      <p:pic>
        <p:nvPicPr>
          <p:cNvPr id="698" name="Google Shape;6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175" y="1504731"/>
            <a:ext cx="5182049" cy="5048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SourceTree 產生 local repository</a:t>
            </a:r>
            <a:endParaRPr/>
          </a:p>
        </p:txBody>
      </p:sp>
      <p:sp>
        <p:nvSpPr>
          <p:cNvPr id="704" name="Google Shape;704;p2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創建 Repository 完成後 SourceTree 和 GitHub 畫面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都沒有程式碼</a:t>
            </a:r>
            <a:endParaRPr/>
          </a:p>
        </p:txBody>
      </p:sp>
      <p:pic>
        <p:nvPicPr>
          <p:cNvPr id="705" name="Google Shape;7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873" y="2098973"/>
            <a:ext cx="5505927" cy="387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0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SourceTree 產生 local repository</a:t>
            </a:r>
            <a:endParaRPr/>
          </a:p>
        </p:txBody>
      </p:sp>
      <p:sp>
        <p:nvSpPr>
          <p:cNvPr id="711" name="Google Shape;711;p30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創建 Repository 完成後 SourceTree 和 GitHub 畫面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都沒有程式碼</a:t>
            </a:r>
            <a:endParaRPr/>
          </a:p>
        </p:txBody>
      </p:sp>
      <p:pic>
        <p:nvPicPr>
          <p:cNvPr id="712" name="Google Shape;7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8755" y="2096786"/>
            <a:ext cx="6410097" cy="426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將專案資料複製到空資料夾</a:t>
            </a:r>
            <a:endParaRPr/>
          </a:p>
        </p:txBody>
      </p:sp>
      <p:sp>
        <p:nvSpPr>
          <p:cNvPr id="718" name="Google Shape;718;p3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 quiz1 的資料全選複製到空的資料夾 quiz 中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重新整理 SourceTree，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zh-TW"/>
              <a:t>   會出現以下畫面</a:t>
            </a:r>
            <a:endParaRPr/>
          </a:p>
        </p:txBody>
      </p:sp>
      <p:pic>
        <p:nvPicPr>
          <p:cNvPr id="719" name="Google Shape;7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7887" y="1947863"/>
            <a:ext cx="5498217" cy="465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將資料 Commit 到 Remote</a:t>
            </a:r>
            <a:endParaRPr/>
          </a:p>
        </p:txBody>
      </p:sp>
      <p:sp>
        <p:nvSpPr>
          <p:cNvPr id="725" name="Google Shape;725;p3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Remote 並非是 GitHub，可以將其視為遠端的暫存庫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Remote 是介於 Local 端和 GitHub 之間的遠端暫存庫 </a:t>
            </a:r>
            <a:endParaRPr/>
          </a:p>
        </p:txBody>
      </p:sp>
      <p:pic>
        <p:nvPicPr>
          <p:cNvPr id="726" name="Google Shape;7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126" y="2263558"/>
            <a:ext cx="8391045" cy="4264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將資料 Commit 到 Remote</a:t>
            </a:r>
            <a:endParaRPr/>
          </a:p>
        </p:txBody>
      </p:sp>
      <p:sp>
        <p:nvSpPr>
          <p:cNvPr id="732" name="Google Shape;732;p3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上傳成功畫面</a:t>
            </a:r>
            <a:endParaRPr/>
          </a:p>
        </p:txBody>
      </p:sp>
      <p:pic>
        <p:nvPicPr>
          <p:cNvPr id="733" name="Google Shape;7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869" y="1987319"/>
            <a:ext cx="5227773" cy="32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將資料 Push 到 GitHub</a:t>
            </a:r>
            <a:endParaRPr/>
          </a:p>
        </p:txBody>
      </p:sp>
      <p:sp>
        <p:nvSpPr>
          <p:cNvPr id="739" name="Google Shape;739;p3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對分支 main 按右鍵 🡪 Push to origin/main(tracked)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分支前面有 origin 表示已經有存在 GitHub</a:t>
            </a:r>
            <a:endParaRPr/>
          </a:p>
        </p:txBody>
      </p:sp>
      <p:pic>
        <p:nvPicPr>
          <p:cNvPr id="740" name="Google Shape;7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017" y="2514599"/>
            <a:ext cx="4860995" cy="403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067618"/>
            <a:ext cx="5776245" cy="2541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檢視 GitHub</a:t>
            </a:r>
            <a:endParaRPr/>
          </a:p>
        </p:txBody>
      </p:sp>
      <p:sp>
        <p:nvSpPr>
          <p:cNvPr id="747" name="Google Shape;747;p3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確認程式碼已經有被 Push 至 GitHub</a:t>
            </a:r>
            <a:endParaRPr/>
          </a:p>
        </p:txBody>
      </p:sp>
      <p:pic>
        <p:nvPicPr>
          <p:cNvPr id="748" name="Google Shape;7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323" y="1985962"/>
            <a:ext cx="5265737" cy="458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6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方法二</a:t>
            </a:r>
            <a:endParaRPr/>
          </a:p>
        </p:txBody>
      </p:sp>
      <p:sp>
        <p:nvSpPr>
          <p:cNvPr id="754" name="Google Shape;754;p36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新增專案至 Github</a:t>
            </a:r>
            <a:endParaRPr/>
          </a:p>
        </p:txBody>
      </p:sp>
      <p:sp>
        <p:nvSpPr>
          <p:cNvPr id="760" name="Google Shape;760;p3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1. GitHub 新增專案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詳細步驟請參考本章節投影片 P10、11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2. 本機新增空的資料夾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資料夾放在 Eclipse 的 workspace 之資料夾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資料夾名稱與專案名稱同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3. 複製專案的 URI</a:t>
            </a:r>
            <a:endParaRPr/>
          </a:p>
        </p:txBody>
      </p:sp>
      <p:pic>
        <p:nvPicPr>
          <p:cNvPr id="761" name="Google Shape;76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3068" y="3325504"/>
            <a:ext cx="7239029" cy="313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新增專案至 SourceTree 和本機</a:t>
            </a:r>
            <a:endParaRPr/>
          </a:p>
        </p:txBody>
      </p:sp>
      <p:sp>
        <p:nvSpPr>
          <p:cNvPr id="767" name="Google Shape;767;p3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4. 新增 GitHub 的專案到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rPr lang="zh-TW"/>
              <a:t>   SourceTree 和本機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768" name="Google Shape;76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99" y="1224862"/>
            <a:ext cx="6384155" cy="5129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新增專案至 SourceTree</a:t>
            </a:r>
            <a:endParaRPr/>
          </a:p>
        </p:txBody>
      </p:sp>
      <p:sp>
        <p:nvSpPr>
          <p:cNvPr id="774" name="Google Shape;774;p3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新增 GitHub 的專案到 SourceTree 成功後畫面如下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775" name="Google Shape;7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8580" y="1881187"/>
            <a:ext cx="6300850" cy="4743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匯入新專案到 Eclipse</a:t>
            </a:r>
            <a:endParaRPr/>
          </a:p>
        </p:txBody>
      </p:sp>
      <p:sp>
        <p:nvSpPr>
          <p:cNvPr id="781" name="Google Shape;781;p4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Eclipse 匯入專案 – 匯入已存在的 Gradle 專案</a:t>
            </a:r>
            <a:endParaRPr/>
          </a:p>
        </p:txBody>
      </p:sp>
      <p:sp>
        <p:nvSpPr>
          <p:cNvPr id="787" name="Google Shape;787;p4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File 🡪 Import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788" name="Google Shape;7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2562" y="1382998"/>
            <a:ext cx="4006876" cy="4971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Eclipse 匯入專案 – 匯入已存在的 Gradle 專案</a:t>
            </a:r>
            <a:endParaRPr/>
          </a:p>
        </p:txBody>
      </p:sp>
      <p:sp>
        <p:nvSpPr>
          <p:cNvPr id="794" name="Google Shape;794;p4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Gradle 🡪 Existing Gradle Project 🡪 Next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795" name="Google Shape;79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862" y="1881188"/>
            <a:ext cx="5434256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Eclipse 匯入專案 – 匯入已存在的 Gradle 專案</a:t>
            </a:r>
            <a:endParaRPr/>
          </a:p>
        </p:txBody>
      </p:sp>
      <p:sp>
        <p:nvSpPr>
          <p:cNvPr id="801" name="Google Shape;801;p4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按 Next 到下面畫面時，選擇要 Import 的專案路徑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02" name="Google Shape;80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0459" y="1917991"/>
            <a:ext cx="5140666" cy="4849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Eclipse 匯入專案 – 匯入已存在的 Gradle 專案</a:t>
            </a:r>
            <a:endParaRPr/>
          </a:p>
        </p:txBody>
      </p:sp>
      <p:sp>
        <p:nvSpPr>
          <p:cNvPr id="808" name="Google Shape;808;p4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按 Next 到下面畫面時，出現要匯入的專案名稱時，才算成功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09" name="Google Shape;80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9500" y="1848636"/>
            <a:ext cx="5167250" cy="4947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初始畫面和功能簡介</a:t>
            </a:r>
            <a:endParaRPr/>
          </a:p>
        </p:txBody>
      </p:sp>
      <p:sp>
        <p:nvSpPr>
          <p:cNvPr id="815" name="Google Shape;815;p4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16" name="Google Shape;81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0722" y="1620987"/>
            <a:ext cx="8718704" cy="4170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Commit</a:t>
            </a:r>
            <a:endParaRPr/>
          </a:p>
        </p:txBody>
      </p:sp>
      <p:sp>
        <p:nvSpPr>
          <p:cNvPr id="822" name="Google Shape;822;p4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</a:t>
            </a:r>
            <a:r>
              <a:rPr b="1" lang="zh-TW">
                <a:solidFill>
                  <a:srgbClr val="FF0000"/>
                </a:solidFill>
              </a:rPr>
              <a:t>本機</a:t>
            </a:r>
            <a:r>
              <a:rPr lang="zh-TW"/>
              <a:t>有新增、刪除、修改過後的檔案上傳到</a:t>
            </a:r>
            <a:r>
              <a:rPr b="1" lang="zh-TW">
                <a:solidFill>
                  <a:srgbClr val="FF0000"/>
                </a:solidFill>
              </a:rPr>
              <a:t>遠端(Remote)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23" name="Google Shape;82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466" y="1859340"/>
            <a:ext cx="7602657" cy="4681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Commit</a:t>
            </a:r>
            <a:endParaRPr/>
          </a:p>
        </p:txBody>
      </p:sp>
      <p:sp>
        <p:nvSpPr>
          <p:cNvPr id="829" name="Google Shape;829;p4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</a:t>
            </a:r>
            <a:r>
              <a:rPr b="1" lang="zh-TW">
                <a:solidFill>
                  <a:srgbClr val="FF0000"/>
                </a:solidFill>
              </a:rPr>
              <a:t>本機</a:t>
            </a:r>
            <a:r>
              <a:rPr lang="zh-TW"/>
              <a:t>有新增、刪除、修改過後的檔案上傳到</a:t>
            </a:r>
            <a:r>
              <a:rPr b="1" lang="zh-TW">
                <a:solidFill>
                  <a:srgbClr val="FF0000"/>
                </a:solidFill>
              </a:rPr>
              <a:t>遠端(Remote)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30" name="Google Shape;83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596" y="1888723"/>
            <a:ext cx="9845257" cy="4689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Push</a:t>
            </a:r>
            <a:endParaRPr/>
          </a:p>
        </p:txBody>
      </p:sp>
      <p:sp>
        <p:nvSpPr>
          <p:cNvPr id="836" name="Google Shape;836;p4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</a:t>
            </a:r>
            <a:r>
              <a:rPr b="1" lang="zh-TW">
                <a:solidFill>
                  <a:srgbClr val="FF0000"/>
                </a:solidFill>
              </a:rPr>
              <a:t>遠端</a:t>
            </a:r>
            <a:r>
              <a:rPr lang="zh-TW"/>
              <a:t>的檔案上傳到 </a:t>
            </a:r>
            <a:r>
              <a:rPr b="1" lang="zh-TW">
                <a:solidFill>
                  <a:srgbClr val="FF0000"/>
                </a:solidFill>
              </a:rPr>
              <a:t>Repository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37" name="Google Shape;8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947" y="1834203"/>
            <a:ext cx="8297127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Push</a:t>
            </a:r>
            <a:endParaRPr/>
          </a:p>
        </p:txBody>
      </p:sp>
      <p:sp>
        <p:nvSpPr>
          <p:cNvPr id="843" name="Google Shape;843;p4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</a:t>
            </a:r>
            <a:r>
              <a:rPr b="1" lang="zh-TW">
                <a:solidFill>
                  <a:srgbClr val="FF0000"/>
                </a:solidFill>
              </a:rPr>
              <a:t>遠端</a:t>
            </a:r>
            <a:r>
              <a:rPr lang="zh-TW"/>
              <a:t>的檔案上傳到 </a:t>
            </a:r>
            <a:r>
              <a:rPr b="1" lang="zh-TW">
                <a:solidFill>
                  <a:srgbClr val="FF0000"/>
                </a:solidFill>
              </a:rPr>
              <a:t>Repository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44" name="Google Shape;84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964" y="1904462"/>
            <a:ext cx="10645254" cy="4142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50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Push</a:t>
            </a:r>
            <a:endParaRPr/>
          </a:p>
        </p:txBody>
      </p:sp>
      <p:sp>
        <p:nvSpPr>
          <p:cNvPr id="850" name="Google Shape;850;p50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</a:t>
            </a:r>
            <a:r>
              <a:rPr b="1" lang="zh-TW">
                <a:solidFill>
                  <a:srgbClr val="FF0000"/>
                </a:solidFill>
              </a:rPr>
              <a:t>遠端</a:t>
            </a:r>
            <a:r>
              <a:rPr lang="zh-TW"/>
              <a:t>的檔案上傳到 </a:t>
            </a:r>
            <a:r>
              <a:rPr b="1" lang="zh-TW">
                <a:solidFill>
                  <a:srgbClr val="FF0000"/>
                </a:solidFill>
              </a:rPr>
              <a:t>Repository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51" name="Google Shape;85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8507" y="1942526"/>
            <a:ext cx="9794543" cy="3888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- Pull</a:t>
            </a:r>
            <a:endParaRPr/>
          </a:p>
        </p:txBody>
      </p:sp>
      <p:sp>
        <p:nvSpPr>
          <p:cNvPr id="857" name="Google Shape;857;p5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 </a:t>
            </a:r>
            <a:r>
              <a:rPr b="1" lang="zh-TW">
                <a:solidFill>
                  <a:srgbClr val="FF0000"/>
                </a:solidFill>
              </a:rPr>
              <a:t>Repository </a:t>
            </a:r>
            <a:r>
              <a:rPr lang="zh-TW"/>
              <a:t>的檔案下載到 </a:t>
            </a:r>
            <a:r>
              <a:rPr b="1" lang="zh-TW">
                <a:solidFill>
                  <a:srgbClr val="FF0000"/>
                </a:solidFill>
              </a:rPr>
              <a:t>本機</a:t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58" name="Google Shape;85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3528" y="1913402"/>
            <a:ext cx="10144836" cy="3945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無法 push 或 pull</a:t>
            </a:r>
            <a:endParaRPr/>
          </a:p>
        </p:txBody>
      </p:sp>
      <p:sp>
        <p:nvSpPr>
          <p:cNvPr id="864" name="Google Shape;864;p5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遇到如下列圖示的問題時，可依照網頁中的第2個方法解決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Char char="▪"/>
            </a:pPr>
            <a:r>
              <a:rPr b="1" lang="zh-TW" sz="1600"/>
              <a:t>https://codeilin.wordpress.com/2022/03/13/sourcetree-github%E4%B8%8D%E6%8E%A5%E5%8F%97%E5%B8%B3%E6%88%B6%E5%AF%86%E7%A2%BC%E9%A9%97%E8%AD%89%E8%A7%A3%E6%B1%BA%E6%96%B9%E6%B3%95/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5" name="Google Shape;8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509" y="2943998"/>
            <a:ext cx="10322257" cy="2827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開分支</a:t>
            </a:r>
            <a:endParaRPr/>
          </a:p>
        </p:txBody>
      </p:sp>
      <p:sp>
        <p:nvSpPr>
          <p:cNvPr id="871" name="Google Shape;871;p5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1. 在本機開分支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72" name="Google Shape;87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9409" y="1854017"/>
            <a:ext cx="9862782" cy="4385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開分支</a:t>
            </a:r>
            <a:endParaRPr/>
          </a:p>
        </p:txBody>
      </p:sp>
      <p:sp>
        <p:nvSpPr>
          <p:cNvPr id="878" name="Google Shape;878;p5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1. 在本機開分支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79" name="Google Shape;87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522" y="1795171"/>
            <a:ext cx="8453608" cy="49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開分支</a:t>
            </a:r>
            <a:endParaRPr/>
          </a:p>
        </p:txBody>
      </p:sp>
      <p:sp>
        <p:nvSpPr>
          <p:cNvPr id="885" name="Google Shape;885;p5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2. 將分支上傳(Push)到遠端(Repository)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86" name="Google Shape;88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745" y="1842568"/>
            <a:ext cx="6774667" cy="494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開分支</a:t>
            </a:r>
            <a:endParaRPr/>
          </a:p>
        </p:txBody>
      </p:sp>
      <p:sp>
        <p:nvSpPr>
          <p:cNvPr id="892" name="Google Shape;892;p5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2. 將分支上傳(Push)到遠端(Repository)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93" name="Google Shape;89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169" y="1908743"/>
            <a:ext cx="10158484" cy="391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SourceTree – 開分支</a:t>
            </a:r>
            <a:endParaRPr/>
          </a:p>
        </p:txBody>
      </p:sp>
      <p:sp>
        <p:nvSpPr>
          <p:cNvPr id="899" name="Google Shape;899;p5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2. 將分支上傳(Push)到遠端(Repository)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00" name="Google Shape;90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6661" y="1870147"/>
            <a:ext cx="8169337" cy="4755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新增他人更新(commit)專案的權限</a:t>
            </a:r>
            <a:endParaRPr/>
          </a:p>
        </p:txBody>
      </p:sp>
      <p:sp>
        <p:nvSpPr>
          <p:cNvPr id="906" name="Google Shape;906;p5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情境: 多人協同開發同一個專案</a:t>
            </a:r>
            <a:endParaRPr/>
          </a:p>
        </p:txBody>
      </p:sp>
      <p:graphicFrame>
        <p:nvGraphicFramePr>
          <p:cNvPr id="907" name="Google Shape;907;p58"/>
          <p:cNvGraphicFramePr/>
          <p:nvPr/>
        </p:nvGraphicFramePr>
        <p:xfrm>
          <a:off x="1433014" y="1834393"/>
          <a:ext cx="8032513" cy="4838723"/>
        </p:xfrm>
        <a:graphic>
          <a:graphicData uri="http://schemas.openxmlformats.org/presentationml/2006/ole">
            <mc:AlternateContent>
              <mc:Choice Requires="v">
                <p:oleObj r:id="rId4" imgH="4838723" imgW="8032513" progId="PBrush" spid="_x0000_s1">
                  <p:embed/>
                </p:oleObj>
              </mc:Choice>
              <mc:Fallback>
                <p:oleObj r:id="rId5" imgH="4838723" imgW="8032513" progId="PBrush">
                  <p:embed/>
                  <p:pic>
                    <p:nvPicPr>
                      <p:cNvPr id="907" name="Google Shape;907;p5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33014" y="1834393"/>
                        <a:ext cx="8032513" cy="4838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ct val="100000"/>
              <a:buFont typeface="Arial"/>
              <a:buNone/>
            </a:pPr>
            <a:br>
              <a:rPr lang="zh-TW"/>
            </a:br>
            <a:r>
              <a:rPr lang="zh-TW"/>
              <a:t>GitHub – 新增他人更新(commit)專案的權限</a:t>
            </a:r>
            <a:endParaRPr/>
          </a:p>
        </p:txBody>
      </p:sp>
      <p:sp>
        <p:nvSpPr>
          <p:cNvPr id="913" name="Google Shape;913;p5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情境: 多人協同開發同一個專案</a:t>
            </a:r>
            <a:endParaRPr/>
          </a:p>
        </p:txBody>
      </p:sp>
      <p:graphicFrame>
        <p:nvGraphicFramePr>
          <p:cNvPr id="914" name="Google Shape;914;p59"/>
          <p:cNvGraphicFramePr/>
          <p:nvPr/>
        </p:nvGraphicFramePr>
        <p:xfrm>
          <a:off x="499116" y="2210701"/>
          <a:ext cx="5108128" cy="2434087"/>
        </p:xfrm>
        <a:graphic>
          <a:graphicData uri="http://schemas.openxmlformats.org/presentationml/2006/ole">
            <mc:AlternateContent>
              <mc:Choice Requires="v">
                <p:oleObj r:id="rId4" imgH="2434087" imgW="5108128" progId="PBrush" spid="_x0000_s1">
                  <p:embed/>
                </p:oleObj>
              </mc:Choice>
              <mc:Fallback>
                <p:oleObj r:id="rId5" imgH="2434087" imgW="5108128" progId="PBrush">
                  <p:embed/>
                  <p:pic>
                    <p:nvPicPr>
                      <p:cNvPr id="914" name="Google Shape;914;p59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9116" y="2210701"/>
                        <a:ext cx="5108128" cy="243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5" name="Google Shape;915;p59"/>
          <p:cNvGraphicFramePr/>
          <p:nvPr/>
        </p:nvGraphicFramePr>
        <p:xfrm>
          <a:off x="5924268" y="2210701"/>
          <a:ext cx="6111875" cy="3406775"/>
        </p:xfrm>
        <a:graphic>
          <a:graphicData uri="http://schemas.openxmlformats.org/presentationml/2006/ole">
            <mc:AlternateContent>
              <mc:Choice Requires="v">
                <p:oleObj r:id="rId7" imgH="3406775" imgW="6111875" progId="PBrush" spid="_x0000_s2">
                  <p:embed/>
                </p:oleObj>
              </mc:Choice>
              <mc:Fallback>
                <p:oleObj r:id="rId8" imgH="3406775" imgW="6111875" progId="PBrush">
                  <p:embed/>
                  <p:pic>
                    <p:nvPicPr>
                      <p:cNvPr id="915" name="Google Shape;915;p59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924268" y="2210701"/>
                        <a:ext cx="6111875" cy="340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匯入GitHub 專案至 Eclipse</a:t>
            </a:r>
            <a:endParaRPr/>
          </a:p>
        </p:txBody>
      </p:sp>
      <p:sp>
        <p:nvSpPr>
          <p:cNvPr id="921" name="Google Shape;921;p6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27" name="Google Shape;927;p6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File 🡪 Import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新視窗選擇 Git 🡪 Projects from Git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28" name="Google Shape;92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382972"/>
            <a:ext cx="1710835" cy="4342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795" y="1344824"/>
            <a:ext cx="3973808" cy="4380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35" name="Google Shape;935;p6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選擇 Clone URI 🡪 Next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36" name="Google Shape;93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892" y="1740999"/>
            <a:ext cx="4666168" cy="4319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42" name="Google Shape;942;p6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確認資訊 🡪 Next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43" name="Google Shape;94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532" y="1584633"/>
            <a:ext cx="6341382" cy="5001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49" name="Google Shape;949;p6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勾選要下載的分支 🡪 Next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可全選或勾選部分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50" name="Google Shape;95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939" y="1328667"/>
            <a:ext cx="6060941" cy="479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5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56" name="Google Shape;956;p65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選擇檔案下載目的資料夾 🡪 Next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一般是放在 Eclipse workspace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若有多個分支，可選擇初始分支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57" name="Google Shape;95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845" y="1352150"/>
            <a:ext cx="5806040" cy="4624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6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63" name="Google Shape;963;p66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選擇 Import 成一般的專案類型 🡪 Next 🡪 Finish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64" name="Google Shape;96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890" y="2261045"/>
            <a:ext cx="5708027" cy="4463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6085" y="2301923"/>
            <a:ext cx="5616422" cy="4422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7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Git URL Import 專案到本機</a:t>
            </a:r>
            <a:endParaRPr/>
          </a:p>
        </p:txBody>
      </p:sp>
      <p:sp>
        <p:nvSpPr>
          <p:cNvPr id="971" name="Google Shape;971;p67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Eclipse: 將 Import 的一般專案轉成 Gradle 專案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對著專案按滑鼠右鍵 🡪 Configure 🡪 Add Gradle Nature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專案左上角出現大象圖案即表示成功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72" name="Google Shape;97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885" y="2689218"/>
            <a:ext cx="5495499" cy="404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68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Import Private Project</a:t>
            </a:r>
            <a:endParaRPr/>
          </a:p>
        </p:txBody>
      </p:sp>
      <p:sp>
        <p:nvSpPr>
          <p:cNvPr id="978" name="Google Shape;978;p68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GitHub 產生 token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帳號 🡪 Settings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跳頁後左邊選單最下方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點選 Developer Settings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跳頁後點開 Personal access tokens</a:t>
            </a:r>
            <a:endParaRPr/>
          </a:p>
          <a:p>
            <a:pPr indent="-179387" lvl="2" marL="685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</a:pPr>
            <a:r>
              <a:rPr lang="zh-TW"/>
              <a:t>點選 Tokens(classic)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79" name="Google Shape;9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2362" y="1263356"/>
            <a:ext cx="2019475" cy="46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8381" y="1043465"/>
            <a:ext cx="2160457" cy="3353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6146" y="4465724"/>
            <a:ext cx="2933954" cy="1848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9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Import Private Project</a:t>
            </a:r>
            <a:endParaRPr/>
          </a:p>
        </p:txBody>
      </p:sp>
      <p:sp>
        <p:nvSpPr>
          <p:cNvPr id="987" name="Google Shape;987;p69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GitHub 產生 token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88" name="Google Shape;98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420" y="2119590"/>
            <a:ext cx="10543184" cy="179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0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Import Private Project</a:t>
            </a:r>
            <a:endParaRPr/>
          </a:p>
        </p:txBody>
      </p:sp>
      <p:sp>
        <p:nvSpPr>
          <p:cNvPr id="994" name="Google Shape;994;p70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選取 token 的存取權限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定義名稱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選取有效期限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勾選存取範圍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拉到頁面最下方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Char char="▪"/>
            </a:pPr>
            <a:r>
              <a:rPr lang="zh-TW"/>
              <a:t>Generate token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995" name="Google Shape;995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2028" y="1328867"/>
            <a:ext cx="6466130" cy="520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1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Import Private Project</a:t>
            </a:r>
            <a:endParaRPr/>
          </a:p>
        </p:txBody>
      </p:sp>
      <p:sp>
        <p:nvSpPr>
          <p:cNvPr id="1001" name="Google Shape;1001;p71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token 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02" name="Google Shape;100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8609" y="2092329"/>
            <a:ext cx="10619390" cy="1627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2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Import Private Project</a:t>
            </a:r>
            <a:endParaRPr/>
          </a:p>
        </p:txBody>
      </p:sp>
      <p:sp>
        <p:nvSpPr>
          <p:cNvPr id="1008" name="Google Shape;1008;p72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將 token 帶入 password 欄位</a:t>
            </a:r>
            <a:endParaRPr/>
          </a:p>
          <a:p>
            <a:pPr indent="-55879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09" name="Google Shape;100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089" y="1888439"/>
            <a:ext cx="5524979" cy="4465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3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使用 Eclipse 開新的分支(Branch)</a:t>
            </a:r>
            <a:endParaRPr/>
          </a:p>
        </p:txBody>
      </p:sp>
      <p:sp>
        <p:nvSpPr>
          <p:cNvPr id="1015" name="Google Shape;1015;p73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情境: 協同開發，每人開發不同的功能，同時作業不影響</a:t>
            </a:r>
            <a:endParaRPr/>
          </a:p>
        </p:txBody>
      </p:sp>
      <p:graphicFrame>
        <p:nvGraphicFramePr>
          <p:cNvPr id="1016" name="Google Shape;1016;p73"/>
          <p:cNvGraphicFramePr/>
          <p:nvPr/>
        </p:nvGraphicFramePr>
        <p:xfrm>
          <a:off x="1610981" y="1867990"/>
          <a:ext cx="9451350" cy="3045204"/>
        </p:xfrm>
        <a:graphic>
          <a:graphicData uri="http://schemas.openxmlformats.org/presentationml/2006/ole">
            <mc:AlternateContent>
              <mc:Choice Requires="v">
                <p:oleObj r:id="rId4" imgH="3045204" imgW="9451350" progId="PBrush" spid="_x0000_s1">
                  <p:embed/>
                </p:oleObj>
              </mc:Choice>
              <mc:Fallback>
                <p:oleObj r:id="rId5" imgH="3045204" imgW="9451350" progId="PBrush">
                  <p:embed/>
                  <p:pic>
                    <p:nvPicPr>
                      <p:cNvPr id="1016" name="Google Shape;1016;p7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10981" y="1867990"/>
                        <a:ext cx="9451350" cy="3045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4"/>
          <p:cNvSpPr txBox="1"/>
          <p:nvPr>
            <p:ph type="title"/>
          </p:nvPr>
        </p:nvSpPr>
        <p:spPr>
          <a:xfrm>
            <a:off x="1295400" y="503854"/>
            <a:ext cx="9601200" cy="72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3E27"/>
              </a:buClr>
              <a:buSzPts val="3200"/>
              <a:buFont typeface="Arial"/>
              <a:buNone/>
            </a:pPr>
            <a:r>
              <a:rPr lang="zh-TW"/>
              <a:t>將新的分支 Push 到 Github</a:t>
            </a:r>
            <a:endParaRPr/>
          </a:p>
        </p:txBody>
      </p:sp>
      <p:sp>
        <p:nvSpPr>
          <p:cNvPr id="1022" name="Google Shape;1022;p74"/>
          <p:cNvSpPr txBox="1"/>
          <p:nvPr>
            <p:ph idx="1" type="body"/>
          </p:nvPr>
        </p:nvSpPr>
        <p:spPr>
          <a:xfrm>
            <a:off x="1295400" y="1410789"/>
            <a:ext cx="9601200" cy="4380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zh-TW"/>
              <a:t>情境: 協同開發，每人開發不同的功能，同時作業不影響</a:t>
            </a:r>
            <a:endParaRPr/>
          </a:p>
        </p:txBody>
      </p:sp>
      <p:graphicFrame>
        <p:nvGraphicFramePr>
          <p:cNvPr id="1023" name="Google Shape;1023;p74"/>
          <p:cNvGraphicFramePr/>
          <p:nvPr/>
        </p:nvGraphicFramePr>
        <p:xfrm>
          <a:off x="1421429" y="1889551"/>
          <a:ext cx="7877246" cy="4155340"/>
        </p:xfrm>
        <a:graphic>
          <a:graphicData uri="http://schemas.openxmlformats.org/presentationml/2006/ole">
            <mc:AlternateContent>
              <mc:Choice Requires="v">
                <p:oleObj r:id="rId4" imgH="4155340" imgW="7877246" progId="PBrush" spid="_x0000_s1">
                  <p:embed/>
                </p:oleObj>
              </mc:Choice>
              <mc:Fallback>
                <p:oleObj r:id="rId5" imgH="4155340" imgW="7877246" progId="PBrush">
                  <p:embed/>
                  <p:pic>
                    <p:nvPicPr>
                      <p:cNvPr id="1023" name="Google Shape;1023;p7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21429" y="1889551"/>
                        <a:ext cx="7877246" cy="4155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5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zh-TW"/>
              <a:t>Q&amp;A</a:t>
            </a:r>
            <a:endParaRPr/>
          </a:p>
        </p:txBody>
      </p:sp>
      <p:sp>
        <p:nvSpPr>
          <p:cNvPr id="1029" name="Google Shape;1029;p75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菱格線條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菱格線條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2021-03-04T13:57:47Z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